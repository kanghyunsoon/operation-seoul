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6070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100" b="1">
                <a:solidFill>
                  <a:srgbClr val="1C2637"/>
                </a:solidFill>
              </a:defRPr>
            </a:pPr>
            <a:r>
              <a:t>제목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98480" y="50292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563EB"/>
                </a:solidFill>
              </a:defRPr>
            </a:pPr>
            <a: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698480" cy="502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900"/>
              </a:spcAft>
              <a:defRPr sz="2300">
                <a:solidFill>
                  <a:srgbClr val="222F3E"/>
                </a:solidFill>
                <a:latin typeface="Malgun Gothic"/>
              </a:defRPr>
            </a:pPr>
            <a:r>
              <a:t>Operation Seoul</a:t>
            </a:r>
          </a:p>
          <a:p>
            <a:pPr>
              <a:spcAft>
                <a:spcPts val="900"/>
              </a:spcAft>
              <a:defRPr sz="2300">
                <a:solidFill>
                  <a:srgbClr val="222F3E"/>
                </a:solidFill>
                <a:latin typeface="Malgun Gothic"/>
              </a:defRPr>
            </a:pPr>
            <a:r>
              <a:t>실제 장소 기반 미션 메모형 야외 방탈출 서비스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008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Operation Seoul Final Submission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6070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100" b="1">
                <a:solidFill>
                  <a:srgbClr val="1C2637"/>
                </a:solidFill>
              </a:defRPr>
            </a:pPr>
            <a:r>
              <a:t>문제 정의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98480" y="50292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563EB"/>
                </a:solidFill>
              </a:defRPr>
            </a:pPr>
            <a: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698480" cy="502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900"/>
              </a:spcAft>
              <a:defRPr sz="2200">
                <a:solidFill>
                  <a:srgbClr val="222F3E"/>
                </a:solidFill>
                <a:latin typeface="Malgun Gothic"/>
              </a:defRPr>
            </a:pPr>
            <a:r>
              <a:t>일반 관광 앱은 장소 정보 제공에 머무르는 경우가 많다.</a:t>
            </a:r>
          </a:p>
          <a:p>
            <a:pPr>
              <a:spcAft>
                <a:spcPts val="900"/>
              </a:spcAft>
              <a:defRPr sz="2200">
                <a:solidFill>
                  <a:srgbClr val="222F3E"/>
                </a:solidFill>
                <a:latin typeface="Malgun Gothic"/>
              </a:defRPr>
            </a:pPr>
            <a:r>
              <a:t>사용자가 직접 이동하고 판단하는 몰입형 경험이 부족하다.</a:t>
            </a:r>
          </a:p>
          <a:p>
            <a:pPr>
              <a:spcAft>
                <a:spcPts val="900"/>
              </a:spcAft>
              <a:defRPr sz="2200">
                <a:solidFill>
                  <a:srgbClr val="222F3E"/>
                </a:solidFill>
                <a:latin typeface="Malgun Gothic"/>
              </a:defRPr>
            </a:pPr>
            <a:r>
              <a:t>장소 데이터와 AI를 활용해 콘텐츠 제작 효율을 높일 필요가 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008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Operation Seoul Final Submission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6070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100" b="1">
                <a:solidFill>
                  <a:srgbClr val="1C2637"/>
                </a:solidFill>
              </a:defRPr>
            </a:pPr>
            <a:r>
              <a:t>서비스 목표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98480" y="50292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563EB"/>
                </a:solidFill>
              </a:defRPr>
            </a:pPr>
            <a: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698480" cy="502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900"/>
              </a:spcAft>
              <a:defRPr sz="2200">
                <a:solidFill>
                  <a:srgbClr val="222F3E"/>
                </a:solidFill>
                <a:latin typeface="Malgun Gothic"/>
              </a:defRPr>
            </a:pPr>
            <a:r>
              <a:t>실제 장소를 사건의 단서 공간으로 활용</a:t>
            </a:r>
          </a:p>
          <a:p>
            <a:pPr>
              <a:spcAft>
                <a:spcPts val="900"/>
              </a:spcAft>
              <a:defRPr sz="2200">
                <a:solidFill>
                  <a:srgbClr val="222F3E"/>
                </a:solidFill>
                <a:latin typeface="Malgun Gothic"/>
              </a:defRPr>
            </a:pPr>
            <a:r>
              <a:t>지도 이동, 도착 판정, 퍼즐, 단서, 최종 추리 연결</a:t>
            </a:r>
          </a:p>
          <a:p>
            <a:pPr>
              <a:spcAft>
                <a:spcPts val="900"/>
              </a:spcAft>
              <a:defRPr sz="2200">
                <a:solidFill>
                  <a:srgbClr val="222F3E"/>
                </a:solidFill>
                <a:latin typeface="Malgun Gothic"/>
              </a:defRPr>
            </a:pPr>
            <a:r>
              <a:t>관리자 검수 기반 AI 에피소드 생성 지원</a:t>
            </a:r>
          </a:p>
          <a:p>
            <a:pPr>
              <a:spcAft>
                <a:spcPts val="900"/>
              </a:spcAft>
              <a:defRPr sz="2200">
                <a:solidFill>
                  <a:srgbClr val="222F3E"/>
                </a:solidFill>
                <a:latin typeface="Malgun Gothic"/>
              </a:defRPr>
            </a:pPr>
            <a:r>
              <a:t>리뷰, 커뮤니티, 랭킹, 챌린지로 지속 사용 유도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008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Operation Seoul Final Submission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6070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100" b="1">
                <a:solidFill>
                  <a:srgbClr val="1C2637"/>
                </a:solidFill>
              </a:defRPr>
            </a:pPr>
            <a:r>
              <a:t>사용자 흐름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98480" y="50292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563EB"/>
                </a:solidFill>
              </a:defRPr>
            </a:pPr>
            <a: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698480" cy="502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900"/>
              </a:spcAft>
              <a:defRPr sz="2100">
                <a:solidFill>
                  <a:srgbClr val="222F3E"/>
                </a:solidFill>
                <a:latin typeface="Malgun Gothic"/>
              </a:defRPr>
            </a:pPr>
            <a:r>
              <a:t>1. 로그인</a:t>
            </a:r>
          </a:p>
          <a:p>
            <a:pPr>
              <a:spcAft>
                <a:spcPts val="900"/>
              </a:spcAft>
              <a:defRPr sz="2100">
                <a:solidFill>
                  <a:srgbClr val="222F3E"/>
                </a:solidFill>
                <a:latin typeface="Malgun Gothic"/>
              </a:defRPr>
            </a:pPr>
            <a:r>
              <a:t>2. 에피소드 선택</a:t>
            </a:r>
          </a:p>
          <a:p>
            <a:pPr>
              <a:spcAft>
                <a:spcPts val="900"/>
              </a:spcAft>
              <a:defRPr sz="2100">
                <a:solidFill>
                  <a:srgbClr val="222F3E"/>
                </a:solidFill>
                <a:latin typeface="Malgun Gothic"/>
              </a:defRPr>
            </a:pPr>
            <a:r>
              <a:t>3. 사건 브리핑</a:t>
            </a:r>
          </a:p>
          <a:p>
            <a:pPr>
              <a:spcAft>
                <a:spcPts val="900"/>
              </a:spcAft>
              <a:defRPr sz="2100">
                <a:solidFill>
                  <a:srgbClr val="222F3E"/>
                </a:solidFill>
                <a:latin typeface="Malgun Gothic"/>
              </a:defRPr>
            </a:pPr>
            <a:r>
              <a:t>4. 지도 이동</a:t>
            </a:r>
          </a:p>
          <a:p>
            <a:pPr>
              <a:spcAft>
                <a:spcPts val="900"/>
              </a:spcAft>
              <a:defRPr sz="2100">
                <a:solidFill>
                  <a:srgbClr val="222F3E"/>
                </a:solidFill>
                <a:latin typeface="Malgun Gothic"/>
              </a:defRPr>
            </a:pPr>
            <a:r>
              <a:t>5. 도착 판정</a:t>
            </a:r>
          </a:p>
          <a:p>
            <a:pPr>
              <a:spcAft>
                <a:spcPts val="900"/>
              </a:spcAft>
              <a:defRPr sz="2100">
                <a:solidFill>
                  <a:srgbClr val="222F3E"/>
                </a:solidFill>
                <a:latin typeface="Malgun Gothic"/>
              </a:defRPr>
            </a:pPr>
            <a:r>
              <a:t>6. 퍼즐 풀이</a:t>
            </a:r>
          </a:p>
          <a:p>
            <a:pPr>
              <a:spcAft>
                <a:spcPts val="900"/>
              </a:spcAft>
              <a:defRPr sz="2100">
                <a:solidFill>
                  <a:srgbClr val="222F3E"/>
                </a:solidFill>
                <a:latin typeface="Malgun Gothic"/>
              </a:defRPr>
            </a:pPr>
            <a:r>
              <a:t>7. 단서 확인</a:t>
            </a:r>
          </a:p>
          <a:p>
            <a:pPr>
              <a:spcAft>
                <a:spcPts val="900"/>
              </a:spcAft>
              <a:defRPr sz="2100">
                <a:solidFill>
                  <a:srgbClr val="222F3E"/>
                </a:solidFill>
                <a:latin typeface="Malgun Gothic"/>
              </a:defRPr>
            </a:pPr>
            <a:r>
              <a:t>8. 최종 추리</a:t>
            </a:r>
          </a:p>
          <a:p>
            <a:pPr>
              <a:spcAft>
                <a:spcPts val="900"/>
              </a:spcAft>
              <a:defRPr sz="2100">
                <a:solidFill>
                  <a:srgbClr val="222F3E"/>
                </a:solidFill>
                <a:latin typeface="Malgun Gothic"/>
              </a:defRPr>
            </a:pPr>
            <a:r>
              <a:t>9. 클리어 리포트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008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Operation Seoul Final Submission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6070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100" b="1">
                <a:solidFill>
                  <a:srgbClr val="1C2637"/>
                </a:solidFill>
              </a:defRPr>
            </a:pPr>
            <a:r>
              <a:t>시스템 구조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98480" y="50292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563EB"/>
                </a:solidFill>
              </a:defRPr>
            </a:pPr>
            <a: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698480" cy="502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900"/>
              </a:spcAft>
              <a:defRPr sz="2200">
                <a:solidFill>
                  <a:srgbClr val="222F3E"/>
                </a:solidFill>
                <a:latin typeface="Malgun Gothic"/>
              </a:defRPr>
            </a:pPr>
            <a:r>
              <a:t>Front-End: Vue 3, Pinia, Vue Router, Axios</a:t>
            </a:r>
          </a:p>
          <a:p>
            <a:pPr>
              <a:spcAft>
                <a:spcPts val="900"/>
              </a:spcAft>
              <a:defRPr sz="2200">
                <a:solidFill>
                  <a:srgbClr val="222F3E"/>
                </a:solidFill>
                <a:latin typeface="Malgun Gothic"/>
              </a:defRPr>
            </a:pPr>
            <a:r>
              <a:t>Back-End: Spring Boot, Spring Security, JWT, MyBatis</a:t>
            </a:r>
          </a:p>
          <a:p>
            <a:pPr>
              <a:spcAft>
                <a:spcPts val="900"/>
              </a:spcAft>
              <a:defRPr sz="2200">
                <a:solidFill>
                  <a:srgbClr val="222F3E"/>
                </a:solidFill>
                <a:latin typeface="Malgun Gothic"/>
              </a:defRPr>
            </a:pPr>
            <a:r>
              <a:t>DB: MySQL</a:t>
            </a:r>
          </a:p>
          <a:p>
            <a:pPr>
              <a:spcAft>
                <a:spcPts val="900"/>
              </a:spcAft>
              <a:defRPr sz="2200">
                <a:solidFill>
                  <a:srgbClr val="222F3E"/>
                </a:solidFill>
                <a:latin typeface="Malgun Gothic"/>
              </a:defRPr>
            </a:pPr>
            <a:r>
              <a:t>External: TourAPI, Kakao Local/Map, Tmap</a:t>
            </a:r>
          </a:p>
          <a:p>
            <a:pPr>
              <a:spcAft>
                <a:spcPts val="900"/>
              </a:spcAft>
              <a:defRPr sz="2200">
                <a:solidFill>
                  <a:srgbClr val="222F3E"/>
                </a:solidFill>
                <a:latin typeface="Malgun Gothic"/>
              </a:defRPr>
            </a:pPr>
            <a:r>
              <a:t>AI: Gemini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008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Operation Seoul Final Submission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6070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100" b="1">
                <a:solidFill>
                  <a:srgbClr val="1C2637"/>
                </a:solidFill>
              </a:defRPr>
            </a:pPr>
            <a:r>
              <a:t>핵심 기능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98480" y="50292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563EB"/>
                </a:solidFill>
              </a:defRPr>
            </a:pPr>
            <a: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698480" cy="502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900"/>
              </a:spcAft>
              <a:defRPr sz="2200">
                <a:solidFill>
                  <a:srgbClr val="222F3E"/>
                </a:solidFill>
                <a:latin typeface="Malgun Gothic"/>
              </a:defRPr>
            </a:pPr>
            <a:r>
              <a:t>공개 에피소드 목록/상세</a:t>
            </a:r>
          </a:p>
          <a:p>
            <a:pPr>
              <a:spcAft>
                <a:spcPts val="900"/>
              </a:spcAft>
              <a:defRPr sz="2200">
                <a:solidFill>
                  <a:srgbClr val="222F3E"/>
                </a:solidFill>
                <a:latin typeface="Malgun Gothic"/>
              </a:defRPr>
            </a:pPr>
            <a:r>
              <a:t>지도 기반 장소 탐색</a:t>
            </a:r>
          </a:p>
          <a:p>
            <a:pPr>
              <a:spcAft>
                <a:spcPts val="900"/>
              </a:spcAft>
              <a:defRPr sz="2200">
                <a:solidFill>
                  <a:srgbClr val="222F3E"/>
                </a:solidFill>
                <a:latin typeface="Malgun Gothic"/>
              </a:defRPr>
            </a:pPr>
            <a:r>
              <a:t>GPS/devMode 도착 판정</a:t>
            </a:r>
          </a:p>
          <a:p>
            <a:pPr>
              <a:spcAft>
                <a:spcPts val="900"/>
              </a:spcAft>
              <a:defRPr sz="2200">
                <a:solidFill>
                  <a:srgbClr val="222F3E"/>
                </a:solidFill>
                <a:latin typeface="Malgun Gothic"/>
              </a:defRPr>
            </a:pPr>
            <a:r>
              <a:t>퍼즐과 힌트</a:t>
            </a:r>
          </a:p>
          <a:p>
            <a:pPr>
              <a:spcAft>
                <a:spcPts val="900"/>
              </a:spcAft>
              <a:defRPr sz="2200">
                <a:solidFill>
                  <a:srgbClr val="222F3E"/>
                </a:solidFill>
                <a:latin typeface="Malgun Gothic"/>
              </a:defRPr>
            </a:pPr>
            <a:r>
              <a:t>단서/증거/용의자 해금</a:t>
            </a:r>
          </a:p>
          <a:p>
            <a:pPr>
              <a:spcAft>
                <a:spcPts val="900"/>
              </a:spcAft>
              <a:defRPr sz="2200">
                <a:solidFill>
                  <a:srgbClr val="222F3E"/>
                </a:solidFill>
                <a:latin typeface="Malgun Gothic"/>
              </a:defRPr>
            </a:pPr>
            <a:r>
              <a:t>최종 추리와 정답 제출</a:t>
            </a:r>
          </a:p>
          <a:p>
            <a:pPr>
              <a:spcAft>
                <a:spcPts val="900"/>
              </a:spcAft>
              <a:defRPr sz="2200">
                <a:solidFill>
                  <a:srgbClr val="222F3E"/>
                </a:solidFill>
                <a:latin typeface="Malgun Gothic"/>
              </a:defRPr>
            </a:pPr>
            <a:r>
              <a:t>클리어 리포트와 리뷰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008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Operation Seoul Final Submission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6070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100" b="1">
                <a:solidFill>
                  <a:srgbClr val="1C2637"/>
                </a:solidFill>
              </a:defRPr>
            </a:pPr>
            <a:r>
              <a:t>관리자 기능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98480" y="50292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563EB"/>
                </a:solidFill>
              </a:defRPr>
            </a:pPr>
            <a: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698480" cy="502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900"/>
              </a:spcAft>
              <a:defRPr sz="2200">
                <a:solidFill>
                  <a:srgbClr val="222F3E"/>
                </a:solidFill>
                <a:latin typeface="Malgun Gothic"/>
              </a:defRPr>
            </a:pPr>
            <a:r>
              <a:t>회원 관리</a:t>
            </a:r>
          </a:p>
          <a:p>
            <a:pPr>
              <a:spcAft>
                <a:spcPts val="900"/>
              </a:spcAft>
              <a:defRPr sz="2200">
                <a:solidFill>
                  <a:srgbClr val="222F3E"/>
                </a:solidFill>
                <a:latin typeface="Malgun Gothic"/>
              </a:defRPr>
            </a:pPr>
            <a:r>
              <a:t>리뷰 관리</a:t>
            </a:r>
          </a:p>
          <a:p>
            <a:pPr>
              <a:spcAft>
                <a:spcPts val="900"/>
              </a:spcAft>
              <a:defRPr sz="2200">
                <a:solidFill>
                  <a:srgbClr val="222F3E"/>
                </a:solidFill>
                <a:latin typeface="Malgun Gothic"/>
              </a:defRPr>
            </a:pPr>
            <a:r>
              <a:t>TourAPI/Kakao Local 후보 조회</a:t>
            </a:r>
          </a:p>
          <a:p>
            <a:pPr>
              <a:spcAft>
                <a:spcPts val="900"/>
              </a:spcAft>
              <a:defRPr sz="2200">
                <a:solidFill>
                  <a:srgbClr val="222F3E"/>
                </a:solidFill>
                <a:latin typeface="Malgun Gothic"/>
              </a:defRPr>
            </a:pPr>
            <a:r>
              <a:t>Gemini 초안 생성</a:t>
            </a:r>
          </a:p>
          <a:p>
            <a:pPr>
              <a:spcAft>
                <a:spcPts val="900"/>
              </a:spcAft>
              <a:defRPr sz="2200">
                <a:solidFill>
                  <a:srgbClr val="222F3E"/>
                </a:solidFill>
                <a:latin typeface="Malgun Gothic"/>
              </a:defRPr>
            </a:pPr>
            <a:r>
              <a:t>DRAFT 검증</a:t>
            </a:r>
          </a:p>
          <a:p>
            <a:pPr>
              <a:spcAft>
                <a:spcPts val="900"/>
              </a:spcAft>
              <a:defRPr sz="2200">
                <a:solidFill>
                  <a:srgbClr val="222F3E"/>
                </a:solidFill>
                <a:latin typeface="Malgun Gothic"/>
              </a:defRPr>
            </a:pPr>
            <a:r>
              <a:t>공개 준비도 확인</a:t>
            </a:r>
          </a:p>
          <a:p>
            <a:pPr>
              <a:spcAft>
                <a:spcPts val="900"/>
              </a:spcAft>
              <a:defRPr sz="2200">
                <a:solidFill>
                  <a:srgbClr val="222F3E"/>
                </a:solidFill>
                <a:latin typeface="Malgun Gothic"/>
              </a:defRPr>
            </a:pPr>
            <a:r>
              <a:t>PUBLISHED 전환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008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Operation Seoul Final Submission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6070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100" b="1">
                <a:solidFill>
                  <a:srgbClr val="1C2637"/>
                </a:solidFill>
              </a:defRPr>
            </a:pPr>
            <a:r>
              <a:t>DB 설계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98480" y="50292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563EB"/>
                </a:solidFill>
              </a:defRPr>
            </a:pPr>
            <a: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698480" cy="502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900"/>
              </a:spcAft>
              <a:defRPr sz="2200">
                <a:solidFill>
                  <a:srgbClr val="222F3E"/>
                </a:solidFill>
                <a:latin typeface="Malgun Gothic"/>
              </a:defRPr>
            </a:pPr>
            <a:r>
              <a:t>`users`: 사용자/권한</a:t>
            </a:r>
          </a:p>
          <a:p>
            <a:pPr>
              <a:spcAft>
                <a:spcPts val="900"/>
              </a:spcAft>
              <a:defRPr sz="2200">
                <a:solidFill>
                  <a:srgbClr val="222F3E"/>
                </a:solidFill>
                <a:latin typeface="Malgun Gothic"/>
              </a:defRPr>
            </a:pPr>
            <a:r>
              <a:t>`episodes`: 에피소드</a:t>
            </a:r>
          </a:p>
          <a:p>
            <a:pPr>
              <a:spcAft>
                <a:spcPts val="900"/>
              </a:spcAft>
              <a:defRPr sz="2200">
                <a:solidFill>
                  <a:srgbClr val="222F3E"/>
                </a:solidFill>
                <a:latin typeface="Malgun Gothic"/>
              </a:defRPr>
            </a:pPr>
            <a:r>
              <a:t>`mission_spots`: 조사 장소</a:t>
            </a:r>
          </a:p>
          <a:p>
            <a:pPr>
              <a:spcAft>
                <a:spcPts val="900"/>
              </a:spcAft>
              <a:defRPr sz="2200">
                <a:solidFill>
                  <a:srgbClr val="222F3E"/>
                </a:solidFill>
                <a:latin typeface="Malgun Gothic"/>
              </a:defRPr>
            </a:pPr>
            <a:r>
              <a:t>`puzzles`, `puzzle_hints`: 퍼즐</a:t>
            </a:r>
          </a:p>
          <a:p>
            <a:pPr>
              <a:spcAft>
                <a:spcPts val="900"/>
              </a:spcAft>
              <a:defRPr sz="2200">
                <a:solidFill>
                  <a:srgbClr val="222F3E"/>
                </a:solidFill>
                <a:latin typeface="Malgun Gothic"/>
              </a:defRPr>
            </a:pPr>
            <a:r>
              <a:t>`case_suspects`, `case_evidences`: 미션 파일</a:t>
            </a:r>
          </a:p>
          <a:p>
            <a:pPr>
              <a:spcAft>
                <a:spcPts val="900"/>
              </a:spcAft>
              <a:defRPr sz="2200">
                <a:solidFill>
                  <a:srgbClr val="222F3E"/>
                </a:solidFill>
                <a:latin typeface="Malgun Gothic"/>
              </a:defRPr>
            </a:pPr>
            <a:r>
              <a:t>`user_episode_progress`: 진행 기록</a:t>
            </a:r>
          </a:p>
          <a:p>
            <a:pPr>
              <a:spcAft>
                <a:spcPts val="900"/>
              </a:spcAft>
              <a:defRPr sz="2200">
                <a:solidFill>
                  <a:srgbClr val="222F3E"/>
                </a:solidFill>
                <a:latin typeface="Malgun Gothic"/>
              </a:defRPr>
            </a:pPr>
            <a:r>
              <a:t>`region_question`, `region_answer`: 커뮤니티</a:t>
            </a:r>
          </a:p>
          <a:p>
            <a:pPr>
              <a:spcAft>
                <a:spcPts val="900"/>
              </a:spcAft>
              <a:defRPr sz="2200">
                <a:solidFill>
                  <a:srgbClr val="222F3E"/>
                </a:solidFill>
                <a:latin typeface="Malgun Gothic"/>
              </a:defRPr>
            </a:pPr>
            <a:r>
              <a:t>`episode_reviews`, `rankings`, `challenges`: 후속 활동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008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Operation Seoul Final Submission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6070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100" b="1">
                <a:solidFill>
                  <a:srgbClr val="1C2637"/>
                </a:solidFill>
              </a:defRPr>
            </a:pPr>
            <a:r>
              <a:t>외부 API와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98480" y="50292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563EB"/>
                </a:solidFill>
              </a:defRPr>
            </a:pPr>
            <a:r>
              <a:t>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698480" cy="502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900"/>
              </a:spcAft>
              <a:defRPr sz="2200">
                <a:solidFill>
                  <a:srgbClr val="222F3E"/>
                </a:solidFill>
                <a:latin typeface="Malgun Gothic"/>
              </a:defRPr>
            </a:pPr>
            <a:r>
              <a:t>TourAPI: 장소 후보 수집</a:t>
            </a:r>
          </a:p>
          <a:p>
            <a:pPr>
              <a:spcAft>
                <a:spcPts val="900"/>
              </a:spcAft>
              <a:defRPr sz="2200">
                <a:solidFill>
                  <a:srgbClr val="222F3E"/>
                </a:solidFill>
                <a:latin typeface="Malgun Gothic"/>
              </a:defRPr>
            </a:pPr>
            <a:r>
              <a:t>Kakao Local: 주변 후보 보강</a:t>
            </a:r>
          </a:p>
          <a:p>
            <a:pPr>
              <a:spcAft>
                <a:spcPts val="900"/>
              </a:spcAft>
              <a:defRPr sz="2200">
                <a:solidFill>
                  <a:srgbClr val="222F3E"/>
                </a:solidFill>
                <a:latin typeface="Malgun Gothic"/>
              </a:defRPr>
            </a:pPr>
            <a:r>
              <a:t>Kakao Maps: 지도 UI</a:t>
            </a:r>
          </a:p>
          <a:p>
            <a:pPr>
              <a:spcAft>
                <a:spcPts val="900"/>
              </a:spcAft>
              <a:defRPr sz="2200">
                <a:solidFill>
                  <a:srgbClr val="222F3E"/>
                </a:solidFill>
                <a:latin typeface="Malgun Gothic"/>
              </a:defRPr>
            </a:pPr>
            <a:r>
              <a:t>Tmap: 길찾기</a:t>
            </a:r>
          </a:p>
          <a:p>
            <a:pPr>
              <a:spcAft>
                <a:spcPts val="900"/>
              </a:spcAft>
              <a:defRPr sz="2200">
                <a:solidFill>
                  <a:srgbClr val="222F3E"/>
                </a:solidFill>
                <a:latin typeface="Malgun Gothic"/>
              </a:defRPr>
            </a:pPr>
            <a:r>
              <a:t>Gemini: 에피소드 초안 생성</a:t>
            </a:r>
          </a:p>
          <a:p>
            <a:pPr>
              <a:spcAft>
                <a:spcPts val="900"/>
              </a:spcAft>
              <a:defRPr sz="2200">
                <a:solidFill>
                  <a:srgbClr val="222F3E"/>
                </a:solidFill>
                <a:latin typeface="Malgun Gothic"/>
              </a:defRPr>
            </a:pPr>
            <a:r>
              <a:t>모든 AI 결과는 관리자 검수 후 공개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008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Operation Seoul Final Submission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6070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100" b="1">
                <a:solidFill>
                  <a:srgbClr val="1C2637"/>
                </a:solidFill>
              </a:defRPr>
            </a:pPr>
            <a:r>
              <a:t>보안과 게임 규칙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98480" y="50292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563EB"/>
                </a:solidFill>
              </a:defRPr>
            </a:pPr>
            <a: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698480" cy="502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900"/>
              </a:spcAft>
              <a:defRPr sz="2200">
                <a:solidFill>
                  <a:srgbClr val="222F3E"/>
                </a:solidFill>
                <a:latin typeface="Malgun Gothic"/>
              </a:defRPr>
            </a:pPr>
            <a:r>
              <a:t>JWT 인증</a:t>
            </a:r>
          </a:p>
          <a:p>
            <a:pPr>
              <a:spcAft>
                <a:spcPts val="900"/>
              </a:spcAft>
              <a:defRPr sz="2200">
                <a:solidFill>
                  <a:srgbClr val="222F3E"/>
                </a:solidFill>
                <a:latin typeface="Malgun Gothic"/>
              </a:defRPr>
            </a:pPr>
            <a:r>
              <a:t>관리자 API 권한 분리</a:t>
            </a:r>
          </a:p>
          <a:p>
            <a:pPr>
              <a:spcAft>
                <a:spcPts val="900"/>
              </a:spcAft>
              <a:defRPr sz="2200">
                <a:solidFill>
                  <a:srgbClr val="222F3E"/>
                </a:solidFill>
                <a:latin typeface="Malgun Gothic"/>
              </a:defRPr>
            </a:pPr>
            <a:r>
              <a:t>비활성 계정 차단</a:t>
            </a:r>
          </a:p>
          <a:p>
            <a:pPr>
              <a:spcAft>
                <a:spcPts val="900"/>
              </a:spcAft>
              <a:defRPr sz="2200">
                <a:solidFill>
                  <a:srgbClr val="222F3E"/>
                </a:solidFill>
                <a:latin typeface="Malgun Gothic"/>
              </a:defRPr>
            </a:pPr>
            <a:r>
              <a:t>최종 장소 내부 필드 미노출</a:t>
            </a:r>
          </a:p>
          <a:p>
            <a:pPr>
              <a:spcAft>
                <a:spcPts val="900"/>
              </a:spcAft>
              <a:defRPr sz="2200">
                <a:solidFill>
                  <a:srgbClr val="222F3E"/>
                </a:solidFill>
                <a:latin typeface="Malgun Gothic"/>
              </a:defRPr>
            </a:pPr>
            <a:r>
              <a:t>운영 비밀값 환경변수 관리</a:t>
            </a:r>
          </a:p>
          <a:p>
            <a:pPr>
              <a:spcAft>
                <a:spcPts val="900"/>
              </a:spcAft>
              <a:defRPr sz="2200">
                <a:solidFill>
                  <a:srgbClr val="222F3E"/>
                </a:solidFill>
                <a:latin typeface="Malgun Gothic"/>
              </a:defRPr>
            </a:pPr>
            <a:r>
              <a:t>개발용 도착 판정 운영 분리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008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Operation Seoul Final Submission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6070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100" b="1">
                <a:solidFill>
                  <a:srgbClr val="1C2637"/>
                </a:solidFill>
              </a:defRPr>
            </a:pPr>
            <a:r>
              <a:t>구현 성과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98480" y="50292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563EB"/>
                </a:solidFill>
              </a:defRPr>
            </a:pPr>
            <a: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698480" cy="502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900"/>
              </a:spcAft>
              <a:defRPr sz="2200">
                <a:solidFill>
                  <a:srgbClr val="222F3E"/>
                </a:solidFill>
                <a:latin typeface="Malgun Gothic"/>
              </a:defRPr>
            </a:pPr>
            <a:r>
              <a:t>핵심 플레이 루프 구현 완료</a:t>
            </a:r>
          </a:p>
          <a:p>
            <a:pPr>
              <a:spcAft>
                <a:spcPts val="900"/>
              </a:spcAft>
              <a:defRPr sz="2200">
                <a:solidFill>
                  <a:srgbClr val="222F3E"/>
                </a:solidFill>
                <a:latin typeface="Malgun Gothic"/>
              </a:defRPr>
            </a:pPr>
            <a:r>
              <a:t>관리자 생성/검수 흐름 구현 완료</a:t>
            </a:r>
          </a:p>
          <a:p>
            <a:pPr>
              <a:spcAft>
                <a:spcPts val="900"/>
              </a:spcAft>
              <a:defRPr sz="2200">
                <a:solidFill>
                  <a:srgbClr val="222F3E"/>
                </a:solidFill>
                <a:latin typeface="Malgun Gothic"/>
              </a:defRPr>
            </a:pPr>
            <a:r>
              <a:t>커뮤니티/리뷰/랭킹/챌린지/추천/코칭 MVP 구현</a:t>
            </a:r>
          </a:p>
          <a:p>
            <a:pPr>
              <a:spcAft>
                <a:spcPts val="900"/>
              </a:spcAft>
              <a:defRPr sz="2200">
                <a:solidFill>
                  <a:srgbClr val="222F3E"/>
                </a:solidFill>
                <a:latin typeface="Malgun Gothic"/>
              </a:defRPr>
            </a:pPr>
            <a:r>
              <a:t>Backend compile, Frontend build 통과</a:t>
            </a:r>
          </a:p>
          <a:p>
            <a:pPr>
              <a:spcAft>
                <a:spcPts val="900"/>
              </a:spcAft>
              <a:defRPr sz="2200">
                <a:solidFill>
                  <a:srgbClr val="222F3E"/>
                </a:solidFill>
                <a:latin typeface="Malgun Gothic"/>
              </a:defRPr>
            </a:pPr>
            <a:r>
              <a:t>커뮤니티 게시글 등록 오류 수정 및 검증 완료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008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Operation Seoul Final Submission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6070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100" b="1">
                <a:solidFill>
                  <a:srgbClr val="1C2637"/>
                </a:solidFill>
              </a:defRPr>
            </a:pPr>
            <a:r>
              <a:t>한계와 개선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98480" y="50292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563EB"/>
                </a:solidFill>
              </a:defRPr>
            </a:pPr>
            <a:r>
              <a:t>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698480" cy="502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900"/>
              </a:spcAft>
              <a:defRPr sz="2200">
                <a:solidFill>
                  <a:srgbClr val="222F3E"/>
                </a:solidFill>
                <a:latin typeface="Malgun Gothic"/>
              </a:defRPr>
            </a:pPr>
            <a:r>
              <a:t>OAuth 로그인 미구현</a:t>
            </a:r>
          </a:p>
          <a:p>
            <a:pPr>
              <a:spcAft>
                <a:spcPts val="900"/>
              </a:spcAft>
              <a:defRPr sz="2200">
                <a:solidFill>
                  <a:srgbClr val="222F3E"/>
                </a:solidFill>
                <a:latin typeface="Malgun Gothic"/>
              </a:defRPr>
            </a:pPr>
            <a:r>
              <a:t>쿠폰 지급 로직 미구현</a:t>
            </a:r>
          </a:p>
          <a:p>
            <a:pPr>
              <a:spcAft>
                <a:spcPts val="900"/>
              </a:spcAft>
              <a:defRPr sz="2200">
                <a:solidFill>
                  <a:srgbClr val="222F3E"/>
                </a:solidFill>
                <a:latin typeface="Malgun Gothic"/>
              </a:defRPr>
            </a:pPr>
            <a:r>
              <a:t>실제 현장 GPS 검증 필요</a:t>
            </a:r>
          </a:p>
          <a:p>
            <a:pPr>
              <a:spcAft>
                <a:spcPts val="900"/>
              </a:spcAft>
              <a:defRPr sz="2200">
                <a:solidFill>
                  <a:srgbClr val="222F3E"/>
                </a:solidFill>
                <a:latin typeface="Malgun Gothic"/>
              </a:defRPr>
            </a:pPr>
            <a:r>
              <a:t>AI 초안 품질은 관리자 검수 필수</a:t>
            </a:r>
          </a:p>
          <a:p>
            <a:pPr>
              <a:spcAft>
                <a:spcPts val="900"/>
              </a:spcAft>
              <a:defRPr sz="2200">
                <a:solidFill>
                  <a:srgbClr val="222F3E"/>
                </a:solidFill>
                <a:latin typeface="Malgun Gothic"/>
              </a:defRPr>
            </a:pPr>
            <a:r>
              <a:t>향후 운영 대시보드와 실기기 테스트 강화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008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Operation Seoul Final Submission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6070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100" b="1">
                <a:solidFill>
                  <a:srgbClr val="1C2637"/>
                </a:solidFill>
              </a:defRPr>
            </a:pPr>
            <a:r>
              <a:t>결론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98480" y="50292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563EB"/>
                </a:solidFill>
              </a:defRPr>
            </a:pPr>
            <a:r>
              <a:t>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698480" cy="502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900"/>
              </a:spcAft>
              <a:defRPr sz="2100">
                <a:solidFill>
                  <a:srgbClr val="222F3E"/>
                </a:solidFill>
                <a:latin typeface="Malgun Gothic"/>
              </a:defRPr>
            </a:pPr>
            <a:r>
              <a:t>Operation Seoul은 실제 장소 데이터와 게임형 추리를 결합해 관광/탐방 경험을 미션 기반 콘텐츠로 확장했다. 핵심 MVP는 구현되어 있으며, 현장 검증과 운영 기능 보강을 통해 실제 서비스 수준으로 발전시킬 수 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008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Operation Seoul Final Submission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